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94" r:id="rId2"/>
    <p:sldId id="257" r:id="rId3"/>
    <p:sldId id="260" r:id="rId4"/>
    <p:sldId id="295" r:id="rId11"/>
    <p:sldId id="296" r:id="rId12"/>
    <p:sldId id="297" r:id="rId13"/>
    <p:sldId id="298" r:id="rId14"/>
    <p:sldId id="299" r:id="rId15"/>
    <p:sldId id="300" r:id="rId16"/>
    <p:sldId id="272" r:id="rId5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356992"/>
    <a:srgbClr val="456D92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-2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  <Relationship Id="rId11" Type="http://schemas.openxmlformats.org/officeDocument/2006/relationships/slide" Target="slides/slide5.xml"/>
  <Relationship Id="rId12" Type="http://schemas.openxmlformats.org/officeDocument/2006/relationships/slide" Target="slides/slide6.xml"/>
  <Relationship Id="rId13" Type="http://schemas.openxmlformats.org/officeDocument/2006/relationships/slide" Target="slides/slide7.xml"/>
  <Relationship Id="rId14" Type="http://schemas.openxmlformats.org/officeDocument/2006/relationships/slide" Target="slides/slide8.xml"/>
  <Relationship Id="rId15" Type="http://schemas.openxmlformats.org/officeDocument/2006/relationships/slide" Target="slides/slide9.xml"/>
  <Relationship Id="rId16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286945D-0C29-4330-BB93-37CE753595FE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FB4DA9F-D3DE-4A8F-AC57-37601E5498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3B0B5D-F552-4595-8FE8-B60744600E21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35A0A7-EAE3-4D14-A709-F8B72EE746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1DBE5-990B-4EEB-BF1B-4BF12739337B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D91D92-0D35-4EEB-9708-EA3885C669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12C33-19E1-43E8-BE45-67E9056BA8B8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145121-FF37-400E-8A6A-1DFB07134D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86E06-A88B-4E20-82AD-3FC200B22046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6402A4-E256-4BC7-A43A-DA67AA3A27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C0DD23-B3F6-406E-99ED-097DA9771531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69D1DE-8CDB-4974-97BA-3BDB03CF1E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60924-6C9F-4DC0-A81F-2E02A5965373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15DFD-5E9E-472D-82D3-918920F4EB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DC1823-7624-4AAA-A410-0E6AFF784479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C0D09-DA25-4866-B3A6-90C3242555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7C4DA-86BE-430D-946C-90F38952110E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57C97-82C9-47AA-9077-7ECF1470A5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DAEE4A-37D3-4441-9AF2-FFCBE9BF5D4E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E4F62-1C20-4B5B-B1D5-89E536488E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B00A2-2766-4ACC-8FF6-23BDC14B0708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B1278D-6C74-4635-9A15-5FE98E4F81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9F995-06F3-4F4D-827C-CA1356AE4FEA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B0E72-0063-454E-AC29-1506F1301D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D12DFD6-38DE-4C55-B673-A7F247563E15}" type="datetimeFigureOut">
              <a:rPr lang="en-US"/>
              <a:pPr>
                <a:defRPr/>
              </a:pPr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C4ED630E-25DB-48CE-9BB4-A8310A9FE9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anel"/>
          <p:cNvSpPr/>
          <p:nvPr/>
        </p:nvSpPr>
        <p:spPr>
          <a:xfrm>
            <a:off x="502920" y="3931920"/>
            <a:ext cx="8138160" cy="2514600"/>
          </a:xfrm>
          <a:prstGeom prst="roundRect">
            <a:avLst>
              <a:gd name="adj" fmla="val 12000"/>
            </a:avLst>
          </a:prstGeom>
          <a:solidFill>
            <a:srgbClr val="000000">
              <a:alpha val="58000"/>
            </a:srgbClr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n-US"/>
          </a:p>
        </p:txBody>
      </p:sp>
      <p:sp>
        <p:nvSpPr>
          <p:cNvPr id="12" name="Team Heading"/>
          <p:cNvSpPr txBox="1"/>
          <p:nvPr/>
        </p:nvSpPr>
        <p:spPr>
          <a:xfrm>
            <a:off x="594360" y="484632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1D977"/>
                </a:solidFill>
              </a:rPr>
              <a:t>Team Members</a:t>
            </a:r>
          </a:p>
        </p:txBody>
      </p:sp>
      <p:sp>
        <p:nvSpPr>
          <p:cNvPr id="13" name="Member 1"/>
          <p:cNvSpPr txBox="1"/>
          <p:nvPr/>
        </p:nvSpPr>
        <p:spPr>
          <a:xfrm>
            <a:off x="594360" y="530352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Anshika Srivastava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24030532</a:t>
            </a:r>
          </a:p>
        </p:txBody>
      </p:sp>
      <p:sp>
        <p:nvSpPr>
          <p:cNvPr id="14" name="Member 2"/>
          <p:cNvSpPr txBox="1"/>
          <p:nvPr/>
        </p:nvSpPr>
        <p:spPr>
          <a:xfrm>
            <a:off x="3246120" y="530352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Mayank Raj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24030541</a:t>
            </a:r>
          </a:p>
        </p:txBody>
      </p:sp>
      <p:sp>
        <p:nvSpPr>
          <p:cNvPr id="15" name="Member 3"/>
          <p:cNvSpPr txBox="1"/>
          <p:nvPr/>
        </p:nvSpPr>
        <p:spPr>
          <a:xfrm>
            <a:off x="5897880" y="530352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Chandra Sen Singh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24030557</a:t>
            </a:r>
          </a:p>
        </p:txBody>
      </p:sp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594360" y="4023360"/>
            <a:ext cx="7955280" cy="777240"/>
          </a:xfrm>
        </p:spPr>
        <p:txBody>
          <a:bodyPr anchor="ctr"/>
          <a:lstStyle/>
          <a:p>
            <a:pPr algn="ctr" eaLnBrk="1" hangingPunct="1"/>
            <a:r>
              <a:rPr lang="en-US" sz="34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Smart Agriculture Web Portal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-115888" y="1201738"/>
            <a:ext cx="9382126" cy="1012825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rgbClr val="356992"/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Project Overview</a:t>
            </a:r>
          </a:p>
        </p:txBody>
      </p:sp>
      <p:sp>
        <p:nvSpPr>
          <p:cNvPr id="11" name="Overview Text"/>
          <p:cNvSpPr txBox="1"/>
          <p:nvPr/>
        </p:nvSpPr>
        <p:spPr>
          <a:xfrm>
            <a:off x="457200" y="2194560"/>
            <a:ext cx="5212080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AgriSmart AI is a precision agriculture web portal for Indian farmers, FPOs and KVKs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Live soil and weather sensor dashboard for 4 agro-climatic zones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AI farming advisor powered by Groq Cloud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Crop disease scan with organic and chemical treatment tips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Remote farm equipment controls and live mandi prices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Live demo hosted on Vercel</a:t>
            </a:r>
          </a:p>
        </p:txBody>
      </p:sp>
      <p:sp>
        <p:nvSpPr>
          <p:cNvPr id="12" name="Stat Card 1"/>
          <p:cNvSpPr/>
          <p:nvPr/>
        </p:nvSpPr>
        <p:spPr>
          <a:xfrm>
            <a:off x="5943600" y="2194560"/>
            <a:ext cx="2743200" cy="1143000"/>
          </a:xfrm>
          <a:prstGeom prst="roundRect">
            <a:avLst>
              <a:gd name="adj" fmla="val 12000"/>
            </a:avLst>
          </a:prstGeom>
          <a:solidFill>
            <a:srgbClr val="F6EEF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8C2E7C"/>
                </a:solidFill>
              </a:rPr>
              <a:t>5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core modules</a:t>
            </a:r>
          </a:p>
        </p:txBody>
      </p:sp>
      <p:sp>
        <p:nvSpPr>
          <p:cNvPr id="13" name="Stat Card 2"/>
          <p:cNvSpPr/>
          <p:nvPr/>
        </p:nvSpPr>
        <p:spPr>
          <a:xfrm>
            <a:off x="5943600" y="3520440"/>
            <a:ext cx="2743200" cy="1143000"/>
          </a:xfrm>
          <a:prstGeom prst="roundRect">
            <a:avLst>
              <a:gd name="adj" fmla="val 12000"/>
            </a:avLst>
          </a:prstGeom>
          <a:solidFill>
            <a:srgbClr val="F6EEF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8C2E7C"/>
                </a:solidFill>
              </a:rPr>
              <a:t>4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agro-climatic zones</a:t>
            </a:r>
          </a:p>
        </p:txBody>
      </p:sp>
      <p:sp>
        <p:nvSpPr>
          <p:cNvPr id="14" name="Stat Card 3"/>
          <p:cNvSpPr/>
          <p:nvPr/>
        </p:nvSpPr>
        <p:spPr>
          <a:xfrm>
            <a:off x="5943600" y="4846320"/>
            <a:ext cx="2743200" cy="1143000"/>
          </a:xfrm>
          <a:prstGeom prst="roundRect">
            <a:avLst>
              <a:gd name="adj" fmla="val 12000"/>
            </a:avLst>
          </a:prstGeom>
          <a:solidFill>
            <a:srgbClr val="F6EEF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8C2E7C"/>
                </a:solidFill>
              </a:rPr>
              <a:t>8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mandi commodities tracked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457200" y="2087563"/>
            <a:ext cx="7567613" cy="4511675"/>
          </a:xfrm>
        </p:spPr>
        <p:txBody>
          <a:bodyPr/>
          <a:lstStyle/>
          <a:p>
            <a:pPr lvl="2" algn="ctr" eaLnBrk="1" hangingPunct="1">
              <a:buFont typeface="Arial" charset="0"/>
              <a:buNone/>
            </a:pPr>
            <a:endParaRPr lang="en-US" sz="5400" b="1"/>
          </a:p>
          <a:p>
            <a:pPr lvl="2" algn="ctr" eaLnBrk="1" hangingPunct="1">
              <a:buFont typeface="Arial" charset="0"/>
              <a:buNone/>
            </a:pPr>
            <a:r>
              <a:rPr lang="en-US" sz="5400" b="1"/>
              <a:t>THANK YOU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-115888" y="1201738"/>
            <a:ext cx="9382126" cy="1012825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rgbClr val="356992"/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Technology Stack at a Glance</a:t>
            </a:r>
          </a:p>
        </p:txBody>
      </p:sp>
      <p:sp>
        <p:nvSpPr>
          <p:cNvPr id="11" name="Languages Header"/>
          <p:cNvSpPr/>
          <p:nvPr/>
        </p:nvSpPr>
        <p:spPr>
          <a:xfrm>
            <a:off x="457200" y="2194560"/>
            <a:ext cx="2590495" cy="457200"/>
          </a:xfrm>
          <a:prstGeom prst="rect">
            <a:avLst/>
          </a:prstGeom>
          <a:solidFill>
            <a:srgbClr val="8C2E7C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Languages</a:t>
            </a:r>
          </a:p>
        </p:txBody>
      </p:sp>
      <p:sp>
        <p:nvSpPr>
          <p:cNvPr id="12" name="Languages Body"/>
          <p:cNvSpPr/>
          <p:nvPr/>
        </p:nvSpPr>
        <p:spPr>
          <a:xfrm>
            <a:off x="457200" y="2651760"/>
            <a:ext cx="2590495" cy="1371600"/>
          </a:xfrm>
          <a:prstGeom prst="rect">
            <a:avLst/>
          </a:prstGeom>
          <a:solidFill>
            <a:srgbClr val="F6EEF5"/>
          </a:solidFill>
          <a:ln>
            <a:noFill/>
          </a:ln>
        </p:spPr>
        <p:txBody>
          <a:bodyPr wrap="square" lIns="109728" tIns="73152" rIns="91440" bIns="4572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JavaScript (ES6+) and JSX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HTML5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CSS3</a:t>
            </a:r>
          </a:p>
        </p:txBody>
      </p:sp>
      <p:sp>
        <p:nvSpPr>
          <p:cNvPr id="13" name="Frontend Header"/>
          <p:cNvSpPr/>
          <p:nvPr/>
        </p:nvSpPr>
        <p:spPr>
          <a:xfrm>
            <a:off x="3276295" y="2194560"/>
            <a:ext cx="2590495" cy="457200"/>
          </a:xfrm>
          <a:prstGeom prst="rect">
            <a:avLst/>
          </a:prstGeom>
          <a:solidFill>
            <a:srgbClr val="8C2E7C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4" name="Frontend Body"/>
          <p:cNvSpPr/>
          <p:nvPr/>
        </p:nvSpPr>
        <p:spPr>
          <a:xfrm>
            <a:off x="3276295" y="2651760"/>
            <a:ext cx="2590495" cy="1371600"/>
          </a:xfrm>
          <a:prstGeom prst="rect">
            <a:avLst/>
          </a:prstGeom>
          <a:solidFill>
            <a:srgbClr val="F6EEF5"/>
          </a:solidFill>
          <a:ln>
            <a:noFill/>
          </a:ln>
        </p:spPr>
        <p:txBody>
          <a:bodyPr wrap="square" lIns="109728" tIns="73152" rIns="91440" bIns="4572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React 18 (UI library)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Vite 5 (build tool)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Lucide Icons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Inline SVG charts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Web Speech &amp; Audio APIs</a:t>
            </a:r>
          </a:p>
        </p:txBody>
      </p:sp>
      <p:sp>
        <p:nvSpPr>
          <p:cNvPr id="15" name="Backend Header"/>
          <p:cNvSpPr/>
          <p:nvPr/>
        </p:nvSpPr>
        <p:spPr>
          <a:xfrm>
            <a:off x="6095390" y="2194560"/>
            <a:ext cx="2590495" cy="457200"/>
          </a:xfrm>
          <a:prstGeom prst="rect">
            <a:avLst/>
          </a:prstGeom>
          <a:solidFill>
            <a:srgbClr val="8C2E7C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6" name="Backend Body"/>
          <p:cNvSpPr/>
          <p:nvPr/>
        </p:nvSpPr>
        <p:spPr>
          <a:xfrm>
            <a:off x="6095390" y="2651760"/>
            <a:ext cx="2590495" cy="1371600"/>
          </a:xfrm>
          <a:prstGeom prst="rect">
            <a:avLst/>
          </a:prstGeom>
          <a:solidFill>
            <a:srgbClr val="F6EEF5"/>
          </a:solidFill>
          <a:ln>
            <a:noFill/>
          </a:ln>
        </p:spPr>
        <p:txBody>
          <a:bodyPr wrap="square" lIns="109728" tIns="73152" rIns="91440" bIns="4572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Node.js 18+ runtime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Express.js server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REST API with JSON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Groq SDK client</a:t>
            </a:r>
          </a:p>
        </p:txBody>
      </p:sp>
      <p:sp>
        <p:nvSpPr>
          <p:cNvPr id="17" name="Database Header"/>
          <p:cNvSpPr/>
          <p:nvPr/>
        </p:nvSpPr>
        <p:spPr>
          <a:xfrm>
            <a:off x="457200" y="4206240"/>
            <a:ext cx="2590495" cy="457200"/>
          </a:xfrm>
          <a:prstGeom prst="rect">
            <a:avLst/>
          </a:prstGeom>
          <a:solidFill>
            <a:srgbClr val="8C2E7C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8" name="Database Body"/>
          <p:cNvSpPr/>
          <p:nvPr/>
        </p:nvSpPr>
        <p:spPr>
          <a:xfrm>
            <a:off x="457200" y="4663440"/>
            <a:ext cx="2590495" cy="1371600"/>
          </a:xfrm>
          <a:prstGeom prst="rect">
            <a:avLst/>
          </a:prstGeom>
          <a:solidFill>
            <a:srgbClr val="F6EEF5"/>
          </a:solidFill>
          <a:ln>
            <a:noFill/>
          </a:ln>
        </p:spPr>
        <p:txBody>
          <a:bodyPr wrap="square" lIns="109728" tIns="73152" rIns="91440" bIns="4572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Supabase (optional) for login and profiles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Built-in server data: crop diseases, mandi prices, sensors</a:t>
            </a:r>
          </a:p>
        </p:txBody>
      </p:sp>
      <p:sp>
        <p:nvSpPr>
          <p:cNvPr id="19" name="AI Engine Header"/>
          <p:cNvSpPr/>
          <p:nvPr/>
        </p:nvSpPr>
        <p:spPr>
          <a:xfrm>
            <a:off x="3276295" y="4206240"/>
            <a:ext cx="2590495" cy="457200"/>
          </a:xfrm>
          <a:prstGeom prst="rect">
            <a:avLst/>
          </a:prstGeom>
          <a:solidFill>
            <a:srgbClr val="8C2E7C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AI Engine</a:t>
            </a:r>
          </a:p>
        </p:txBody>
      </p:sp>
      <p:sp>
        <p:nvSpPr>
          <p:cNvPr id="20" name="AI Engine Body"/>
          <p:cNvSpPr/>
          <p:nvPr/>
        </p:nvSpPr>
        <p:spPr>
          <a:xfrm>
            <a:off x="3276295" y="4663440"/>
            <a:ext cx="2590495" cy="1371600"/>
          </a:xfrm>
          <a:prstGeom prst="rect">
            <a:avLst/>
          </a:prstGeom>
          <a:solidFill>
            <a:srgbClr val="F6EEF5"/>
          </a:solidFill>
          <a:ln>
            <a:noFill/>
          </a:ln>
        </p:spPr>
        <p:txBody>
          <a:bodyPr wrap="square" lIns="109728" tIns="73152" rIns="91440" bIns="4572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Groq Cloud: qwen/qwen3.8-27b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Fallback models and offline agronomy engine</a:t>
            </a:r>
          </a:p>
        </p:txBody>
      </p:sp>
      <p:sp>
        <p:nvSpPr>
          <p:cNvPr id="21" name="Deployment &amp; Tools Header"/>
          <p:cNvSpPr/>
          <p:nvPr/>
        </p:nvSpPr>
        <p:spPr>
          <a:xfrm>
            <a:off x="6095390" y="4206240"/>
            <a:ext cx="2590495" cy="457200"/>
          </a:xfrm>
          <a:prstGeom prst="rect">
            <a:avLst/>
          </a:prstGeom>
          <a:solidFill>
            <a:srgbClr val="8C2E7C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Deployment &amp; Tools</a:t>
            </a:r>
          </a:p>
        </p:txBody>
      </p:sp>
      <p:sp>
        <p:nvSpPr>
          <p:cNvPr id="22" name="Deployment &amp; Tools Body"/>
          <p:cNvSpPr/>
          <p:nvPr/>
        </p:nvSpPr>
        <p:spPr>
          <a:xfrm>
            <a:off x="6095390" y="4663440"/>
            <a:ext cx="2590495" cy="1371600"/>
          </a:xfrm>
          <a:prstGeom prst="rect">
            <a:avLst/>
          </a:prstGeom>
          <a:solidFill>
            <a:srgbClr val="F6EEF5"/>
          </a:solidFill>
          <a:ln>
            <a:noFill/>
          </a:ln>
        </p:spPr>
        <p:txBody>
          <a:bodyPr wrap="square" lIns="109728" tIns="73152" rIns="91440" bIns="4572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Vercel (serverless hosting)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Git and GitHub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npm packages, .env config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-115888" y="1201738"/>
            <a:ext cx="9382126" cy="1012825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rgbClr val="356992"/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Frontend</a:t>
            </a:r>
          </a:p>
        </p:txBody>
      </p:sp>
      <p:sp>
        <p:nvSpPr>
          <p:cNvPr id="11" name="Tech Header"/>
          <p:cNvSpPr/>
          <p:nvPr/>
        </p:nvSpPr>
        <p:spPr>
          <a:xfrm>
            <a:off x="457200" y="2194560"/>
            <a:ext cx="3931920" cy="411480"/>
          </a:xfrm>
          <a:prstGeom prst="rect">
            <a:avLst/>
          </a:prstGeom>
          <a:solidFill>
            <a:srgbClr val="8C2E7C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Technologies</a:t>
            </a:r>
          </a:p>
        </p:txBody>
      </p:sp>
      <p:sp>
        <p:nvSpPr>
          <p:cNvPr id="12" name="Tech List"/>
          <p:cNvSpPr/>
          <p:nvPr/>
        </p:nvSpPr>
        <p:spPr>
          <a:xfrm>
            <a:off x="457200" y="2606040"/>
            <a:ext cx="3931920" cy="3429000"/>
          </a:xfrm>
          <a:prstGeom prst="rect">
            <a:avLst/>
          </a:prstGeom>
          <a:solidFill>
            <a:srgbClr val="F6EEF5"/>
          </a:solidFill>
          <a:ln>
            <a:noFill/>
          </a:ln>
        </p:spPr>
        <p:txBody>
          <a:bodyPr wrap="square" lIns="137160" tIns="91440" rIns="91440" bIns="4572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React 18 (component-based UI)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Vite 5 (fast dev server and build)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JavaScript (ES6+) with JSX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CSS3 with light and dark theme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Lucide Icons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Inline SVG charts and sparklines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Web Speech API (voice input)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Web Audio API (sound effects)</a:t>
            </a:r>
          </a:p>
        </p:txBody>
      </p:sp>
      <p:sp>
        <p:nvSpPr>
          <p:cNvPr id="13" name="Feat Header"/>
          <p:cNvSpPr/>
          <p:nvPr/>
        </p:nvSpPr>
        <p:spPr>
          <a:xfrm>
            <a:off x="4663440" y="2194560"/>
            <a:ext cx="4023360" cy="411480"/>
          </a:xfrm>
          <a:prstGeom prst="rect">
            <a:avLst/>
          </a:prstGeom>
          <a:solidFill>
            <a:srgbClr val="8C2E7C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Screens and Features</a:t>
            </a:r>
          </a:p>
        </p:txBody>
      </p:sp>
      <p:sp>
        <p:nvSpPr>
          <p:cNvPr id="14" name="Feat List"/>
          <p:cNvSpPr/>
          <p:nvPr/>
        </p:nvSpPr>
        <p:spPr>
          <a:xfrm>
            <a:off x="4663440" y="2606040"/>
            <a:ext cx="4023360" cy="3429000"/>
          </a:xfrm>
          <a:prstGeom prst="rect">
            <a:avLst/>
          </a:prstGeom>
          <a:solidFill>
            <a:srgbClr val="F6EEF5"/>
          </a:solidFill>
          <a:ln>
            <a:noFill/>
          </a:ln>
        </p:spPr>
        <p:txBody>
          <a:bodyPr wrap="square" lIns="137160" tIns="91440" rIns="91440" bIns="4572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Dashboard: live sensor data with 24H, 7D, 30D trends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CropDoctor: leaf photo upload and scan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AI chat advisor with voice input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Farm controls panel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Mandi price tracker in 5 currencies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Keys 1 to 5 switch tabs instantly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-115888" y="1201738"/>
            <a:ext cx="9382126" cy="1012825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rgbClr val="356992"/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Backend</a:t>
            </a:r>
          </a:p>
        </p:txBody>
      </p:sp>
      <p:sp>
        <p:nvSpPr>
          <p:cNvPr id="11" name="Tech Header"/>
          <p:cNvSpPr/>
          <p:nvPr/>
        </p:nvSpPr>
        <p:spPr>
          <a:xfrm>
            <a:off x="457200" y="2194560"/>
            <a:ext cx="2926080" cy="411480"/>
          </a:xfrm>
          <a:prstGeom prst="rect">
            <a:avLst/>
          </a:prstGeom>
          <a:solidFill>
            <a:srgbClr val="8C2E7C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Technologies</a:t>
            </a:r>
          </a:p>
        </p:txBody>
      </p:sp>
      <p:sp>
        <p:nvSpPr>
          <p:cNvPr id="12" name="Tech List"/>
          <p:cNvSpPr/>
          <p:nvPr/>
        </p:nvSpPr>
        <p:spPr>
          <a:xfrm>
            <a:off x="457200" y="2606040"/>
            <a:ext cx="2926080" cy="3429000"/>
          </a:xfrm>
          <a:prstGeom prst="rect">
            <a:avLst/>
          </a:prstGeom>
          <a:solidFill>
            <a:srgbClr val="F6EEF5"/>
          </a:solidFill>
          <a:ln>
            <a:noFill/>
          </a:ln>
        </p:spPr>
        <p:txBody>
          <a:bodyPr wrap="square" lIns="137160" tIns="91440" rIns="91440" bIns="4572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Node.js 18+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Express.js (port 5000)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REST API (JSON)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Groq SDK for AI calls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Farming-only guardrail engine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Offline fallback engine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Serves built client in production</a:t>
            </a:r>
          </a:p>
        </p:txBody>
      </p:sp>
      <p:graphicFrame>
        <p:nvGraphicFramePr>
          <p:cNvPr id="13" name="API Table"/>
          <p:cNvGraphicFramePr>
            <a:graphicFrameLocks noGrp="1"/>
          </p:cNvGraphicFramePr>
          <p:nvPr/>
        </p:nvGraphicFramePr>
        <p:xfrm>
          <a:off x="3611880" y="2194560"/>
          <a:ext cx="5074920" cy="3712464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187452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C7D6"/>
                      </a:solidFill>
                    </a:lnL>
                    <a:lnR w="6350">
                      <a:solidFill>
                        <a:srgbClr val="D9C7D6"/>
                      </a:solidFill>
                    </a:lnR>
                    <a:lnT w="6350">
                      <a:solidFill>
                        <a:srgbClr val="D9C7D6"/>
                      </a:solidFill>
                    </a:lnT>
                    <a:lnB w="6350">
                      <a:solidFill>
                        <a:srgbClr val="D9C7D6"/>
                      </a:solidFill>
                    </a:lnB>
                    <a:solidFill>
                      <a:srgbClr val="8C2E7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C7D6"/>
                      </a:solidFill>
                    </a:lnL>
                    <a:lnR w="6350">
                      <a:solidFill>
                        <a:srgbClr val="D9C7D6"/>
                      </a:solidFill>
                    </a:lnR>
                    <a:lnT w="6350">
                      <a:solidFill>
                        <a:srgbClr val="D9C7D6"/>
                      </a:solidFill>
                    </a:lnT>
                    <a:lnB w="6350">
                      <a:solidFill>
                        <a:srgbClr val="D9C7D6"/>
                      </a:solidFill>
                    </a:lnB>
                    <a:solidFill>
                      <a:srgbClr val="8C2E7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POST /api/chat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C7D6"/>
                      </a:solidFill>
                    </a:lnL>
                    <a:lnR w="6350">
                      <a:solidFill>
                        <a:srgbClr val="D9C7D6"/>
                      </a:solidFill>
                    </a:lnR>
                    <a:lnT w="6350">
                      <a:solidFill>
                        <a:srgbClr val="D9C7D6"/>
                      </a:solidFill>
                    </a:lnT>
                    <a:lnB w="6350">
                      <a:solidFill>
                        <a:srgbClr val="D9C7D6"/>
                      </a:solidFill>
                    </a:lnB>
                    <a:solidFill>
                      <a:srgbClr val="F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AI advisor chat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C7D6"/>
                      </a:solidFill>
                    </a:lnL>
                    <a:lnR w="6350">
                      <a:solidFill>
                        <a:srgbClr val="D9C7D6"/>
                      </a:solidFill>
                    </a:lnR>
                    <a:lnT w="6350">
                      <a:solidFill>
                        <a:srgbClr val="D9C7D6"/>
                      </a:solidFill>
                    </a:lnT>
                    <a:lnB w="6350">
                      <a:solidFill>
                        <a:srgbClr val="D9C7D6"/>
                      </a:solidFill>
                    </a:lnB>
                    <a:solidFill>
                      <a:srgbClr val="F6EE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GET /api/telemetry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C7D6"/>
                      </a:solidFill>
                    </a:lnL>
                    <a:lnR w="6350">
                      <a:solidFill>
                        <a:srgbClr val="D9C7D6"/>
                      </a:solidFill>
                    </a:lnR>
                    <a:lnT w="6350">
                      <a:solidFill>
                        <a:srgbClr val="D9C7D6"/>
                      </a:solidFill>
                    </a:lnT>
                    <a:lnB w="6350">
                      <a:solidFill>
                        <a:srgbClr val="D9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Sensor data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C7D6"/>
                      </a:solidFill>
                    </a:lnL>
                    <a:lnR w="6350">
                      <a:solidFill>
                        <a:srgbClr val="D9C7D6"/>
                      </a:solidFill>
                    </a:lnR>
                    <a:lnT w="6350">
                      <a:solidFill>
                        <a:srgbClr val="D9C7D6"/>
                      </a:solidFill>
                    </a:lnT>
                    <a:lnB w="6350">
                      <a:solidFill>
                        <a:srgbClr val="D9C7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POST /api/telemetry/irrigate-zone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C7D6"/>
                      </a:solidFill>
                    </a:lnL>
                    <a:lnR w="6350">
                      <a:solidFill>
                        <a:srgbClr val="D9C7D6"/>
                      </a:solidFill>
                    </a:lnR>
                    <a:lnT w="6350">
                      <a:solidFill>
                        <a:srgbClr val="D9C7D6"/>
                      </a:solidFill>
                    </a:lnT>
                    <a:lnB w="6350">
                      <a:solidFill>
                        <a:srgbClr val="D9C7D6"/>
                      </a:solidFill>
                    </a:lnB>
                    <a:solidFill>
                      <a:srgbClr val="F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Irrigate zone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C7D6"/>
                      </a:solidFill>
                    </a:lnL>
                    <a:lnR w="6350">
                      <a:solidFill>
                        <a:srgbClr val="D9C7D6"/>
                      </a:solidFill>
                    </a:lnR>
                    <a:lnT w="6350">
                      <a:solidFill>
                        <a:srgbClr val="D9C7D6"/>
                      </a:solidFill>
                    </a:lnT>
                    <a:lnB w="6350">
                      <a:solidFill>
                        <a:srgbClr val="D9C7D6"/>
                      </a:solidFill>
                    </a:lnB>
                    <a:solidFill>
                      <a:srgbClr val="F6EE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POST /api/crop-health/analyze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C7D6"/>
                      </a:solidFill>
                    </a:lnL>
                    <a:lnR w="6350">
                      <a:solidFill>
                        <a:srgbClr val="D9C7D6"/>
                      </a:solidFill>
                    </a:lnR>
                    <a:lnT w="6350">
                      <a:solidFill>
                        <a:srgbClr val="D9C7D6"/>
                      </a:solidFill>
                    </a:lnT>
                    <a:lnB w="6350">
                      <a:solidFill>
                        <a:srgbClr val="D9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Crop diagnosis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C7D6"/>
                      </a:solidFill>
                    </a:lnL>
                    <a:lnR w="6350">
                      <a:solidFill>
                        <a:srgbClr val="D9C7D6"/>
                      </a:solidFill>
                    </a:lnR>
                    <a:lnT w="6350">
                      <a:solidFill>
                        <a:srgbClr val="D9C7D6"/>
                      </a:solidFill>
                    </a:lnT>
                    <a:lnB w="6350">
                      <a:solidFill>
                        <a:srgbClr val="D9C7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GET /api/market-prices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C7D6"/>
                      </a:solidFill>
                    </a:lnL>
                    <a:lnR w="6350">
                      <a:solidFill>
                        <a:srgbClr val="D9C7D6"/>
                      </a:solidFill>
                    </a:lnR>
                    <a:lnT w="6350">
                      <a:solidFill>
                        <a:srgbClr val="D9C7D6"/>
                      </a:solidFill>
                    </a:lnT>
                    <a:lnB w="6350">
                      <a:solidFill>
                        <a:srgbClr val="D9C7D6"/>
                      </a:solidFill>
                    </a:lnB>
                    <a:solidFill>
                      <a:srgbClr val="F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Mandi prices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C7D6"/>
                      </a:solidFill>
                    </a:lnL>
                    <a:lnR w="6350">
                      <a:solidFill>
                        <a:srgbClr val="D9C7D6"/>
                      </a:solidFill>
                    </a:lnR>
                    <a:lnT w="6350">
                      <a:solidFill>
                        <a:srgbClr val="D9C7D6"/>
                      </a:solidFill>
                    </a:lnT>
                    <a:lnB w="6350">
                      <a:solidFill>
                        <a:srgbClr val="D9C7D6"/>
                      </a:solidFill>
                    </a:lnB>
                    <a:solidFill>
                      <a:srgbClr val="F6EE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GET, POST /api/farm-controls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C7D6"/>
                      </a:solidFill>
                    </a:lnL>
                    <a:lnR w="6350">
                      <a:solidFill>
                        <a:srgbClr val="D9C7D6"/>
                      </a:solidFill>
                    </a:lnR>
                    <a:lnT w="6350">
                      <a:solidFill>
                        <a:srgbClr val="D9C7D6"/>
                      </a:solidFill>
                    </a:lnT>
                    <a:lnB w="6350">
                      <a:solidFill>
                        <a:srgbClr val="D9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Farm controls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C7D6"/>
                      </a:solidFill>
                    </a:lnL>
                    <a:lnR w="6350">
                      <a:solidFill>
                        <a:srgbClr val="D9C7D6"/>
                      </a:solidFill>
                    </a:lnR>
                    <a:lnT w="6350">
                      <a:solidFill>
                        <a:srgbClr val="D9C7D6"/>
                      </a:solidFill>
                    </a:lnT>
                    <a:lnB w="6350">
                      <a:solidFill>
                        <a:srgbClr val="D9C7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-115888" y="1201738"/>
            <a:ext cx="9382126" cy="1012825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rgbClr val="356992"/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Database &amp; Data Handling</a:t>
            </a:r>
          </a:p>
        </p:txBody>
      </p:sp>
      <p:sp>
        <p:nvSpPr>
          <p:cNvPr id="11" name="Supabase (Optional) Header"/>
          <p:cNvSpPr/>
          <p:nvPr/>
        </p:nvSpPr>
        <p:spPr>
          <a:xfrm>
            <a:off x="457200" y="2194560"/>
            <a:ext cx="2590495" cy="457200"/>
          </a:xfrm>
          <a:prstGeom prst="rect">
            <a:avLst/>
          </a:prstGeom>
          <a:solidFill>
            <a:srgbClr val="8C2E7C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Supabase (Optional)</a:t>
            </a:r>
          </a:p>
        </p:txBody>
      </p:sp>
      <p:sp>
        <p:nvSpPr>
          <p:cNvPr id="12" name="Supabase (Optional) Body"/>
          <p:cNvSpPr/>
          <p:nvPr/>
        </p:nvSpPr>
        <p:spPr>
          <a:xfrm>
            <a:off x="457200" y="2651760"/>
            <a:ext cx="2590495" cy="2148840"/>
          </a:xfrm>
          <a:prstGeom prst="rect">
            <a:avLst/>
          </a:prstGeom>
          <a:solidFill>
            <a:srgbClr val="F6EEF5"/>
          </a:solidFill>
          <a:ln>
            <a:noFill/>
          </a:ln>
        </p:spPr>
        <p:txBody>
          <a:bodyPr wrap="square" lIns="109728" tIns="109728" rIns="91440" bIns="4572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Login and user profiles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Needs SUPABASE_URL and anon key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No keys: Guest Demo Mode</a:t>
            </a:r>
          </a:p>
        </p:txBody>
      </p:sp>
      <p:sp>
        <p:nvSpPr>
          <p:cNvPr id="13" name="Server Data Modules Header"/>
          <p:cNvSpPr/>
          <p:nvPr/>
        </p:nvSpPr>
        <p:spPr>
          <a:xfrm>
            <a:off x="3276295" y="2194560"/>
            <a:ext cx="2590495" cy="457200"/>
          </a:xfrm>
          <a:prstGeom prst="rect">
            <a:avLst/>
          </a:prstGeom>
          <a:solidFill>
            <a:srgbClr val="8C2E7C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Server Data Modules</a:t>
            </a:r>
          </a:p>
        </p:txBody>
      </p:sp>
      <p:sp>
        <p:nvSpPr>
          <p:cNvPr id="14" name="Server Data Modules Body"/>
          <p:cNvSpPr/>
          <p:nvPr/>
        </p:nvSpPr>
        <p:spPr>
          <a:xfrm>
            <a:off x="3276295" y="2651760"/>
            <a:ext cx="2590495" cy="2148840"/>
          </a:xfrm>
          <a:prstGeom prst="rect">
            <a:avLst/>
          </a:prstGeom>
          <a:solidFill>
            <a:srgbClr val="F6EEF5"/>
          </a:solidFill>
          <a:ln>
            <a:noFill/>
          </a:ln>
        </p:spPr>
        <p:txBody>
          <a:bodyPr wrap="square" lIns="109728" tIns="109728" rIns="91440" bIns="4572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IoT telemetry and zone state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Indian crop disease database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APMC mandi prices and MSP</a:t>
            </a:r>
          </a:p>
        </p:txBody>
      </p:sp>
      <p:sp>
        <p:nvSpPr>
          <p:cNvPr id="15" name="Client-side Data Header"/>
          <p:cNvSpPr/>
          <p:nvPr/>
        </p:nvSpPr>
        <p:spPr>
          <a:xfrm>
            <a:off x="6095390" y="2194560"/>
            <a:ext cx="2590495" cy="457200"/>
          </a:xfrm>
          <a:prstGeom prst="rect">
            <a:avLst/>
          </a:prstGeom>
          <a:solidFill>
            <a:srgbClr val="8C2E7C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Client-side Data</a:t>
            </a:r>
          </a:p>
        </p:txBody>
      </p:sp>
      <p:sp>
        <p:nvSpPr>
          <p:cNvPr id="16" name="Client-side Data Body"/>
          <p:cNvSpPr/>
          <p:nvPr/>
        </p:nvSpPr>
        <p:spPr>
          <a:xfrm>
            <a:off x="6095390" y="2651760"/>
            <a:ext cx="2590495" cy="2148840"/>
          </a:xfrm>
          <a:prstGeom prst="rect">
            <a:avLst/>
          </a:prstGeom>
          <a:solidFill>
            <a:srgbClr val="F6EEF5"/>
          </a:solidFill>
          <a:ln>
            <a:noFill/>
          </a:ln>
        </p:spPr>
        <p:txBody>
          <a:bodyPr wrap="square" lIns="109728" tIns="109728" rIns="91440" bIns="4572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CSV telemetry export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Chat transcript download (.txt)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8C2E7C"/>
              </a:buClr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Session-only Groq API key</a:t>
            </a:r>
          </a:p>
        </p:txBody>
      </p:sp>
      <p:sp>
        <p:nvSpPr>
          <p:cNvPr id="17" name="DB Note"/>
          <p:cNvSpPr/>
          <p:nvPr/>
        </p:nvSpPr>
        <p:spPr>
          <a:xfrm>
            <a:off x="457200" y="50292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1D977"/>
          </a:solidFill>
          <a:ln>
            <a:noFill/>
          </a:ln>
        </p:spPr>
        <p:txBody>
          <a:bodyPr wrap="square" lIns="182880" tIns="73152" rIns="182880" bIns="73152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333333"/>
                </a:solidFill>
              </a:rPr>
              <a:t>Without Supabase keys, the whole portal runs in Guest Demo Mode, so no separate database setup is needed to run it locally.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-115888" y="1201738"/>
            <a:ext cx="9382126" cy="1012825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rgbClr val="356992"/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Key Modules</a:t>
            </a:r>
          </a:p>
        </p:txBody>
      </p:sp>
      <p:sp>
        <p:nvSpPr>
          <p:cNvPr id="11" name="Num 1"/>
          <p:cNvSpPr/>
          <p:nvPr/>
        </p:nvSpPr>
        <p:spPr>
          <a:xfrm>
            <a:off x="457200" y="2249424"/>
            <a:ext cx="548640" cy="548640"/>
          </a:xfrm>
          <a:prstGeom prst="ellipse">
            <a:avLst/>
          </a:prstGeom>
          <a:solidFill>
            <a:srgbClr val="8C2E7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Module 1"/>
          <p:cNvSpPr txBox="1"/>
          <p:nvPr/>
        </p:nvSpPr>
        <p:spPr>
          <a:xfrm>
            <a:off x="1188720" y="2194560"/>
            <a:ext cx="749808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C2E7C"/>
                </a:solidFill>
              </a:rPr>
              <a:t>Precision IoT Telemetry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Soil moisture, pH, NPK, temperature and humidity for 4 Indian zones</a:t>
            </a:r>
          </a:p>
        </p:txBody>
      </p:sp>
      <p:sp>
        <p:nvSpPr>
          <p:cNvPr id="13" name="Num 2"/>
          <p:cNvSpPr/>
          <p:nvPr/>
        </p:nvSpPr>
        <p:spPr>
          <a:xfrm>
            <a:off x="457200" y="3017520"/>
            <a:ext cx="548640" cy="548640"/>
          </a:xfrm>
          <a:prstGeom prst="ellipse">
            <a:avLst/>
          </a:prstGeom>
          <a:solidFill>
            <a:srgbClr val="8C2E7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Module 2"/>
          <p:cNvSpPr txBox="1"/>
          <p:nvPr/>
        </p:nvSpPr>
        <p:spPr>
          <a:xfrm>
            <a:off x="1188720" y="2962656"/>
            <a:ext cx="749808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C2E7C"/>
                </a:solidFill>
              </a:rPr>
              <a:t>AgriGroq AI Advisor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Farming Q&amp;A with voice input and a farming-only domain guardrail</a:t>
            </a:r>
          </a:p>
        </p:txBody>
      </p:sp>
      <p:sp>
        <p:nvSpPr>
          <p:cNvPr id="15" name="Num 3"/>
          <p:cNvSpPr/>
          <p:nvPr/>
        </p:nvSpPr>
        <p:spPr>
          <a:xfrm>
            <a:off x="457200" y="3785616"/>
            <a:ext cx="548640" cy="548640"/>
          </a:xfrm>
          <a:prstGeom prst="ellipse">
            <a:avLst/>
          </a:prstGeom>
          <a:solidFill>
            <a:srgbClr val="8C2E7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Module 3"/>
          <p:cNvSpPr txBox="1"/>
          <p:nvPr/>
        </p:nvSpPr>
        <p:spPr>
          <a:xfrm>
            <a:off x="1188720" y="3730752"/>
            <a:ext cx="749808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C2E7C"/>
                </a:solidFill>
              </a:rPr>
              <a:t>AI Crop Doctor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Leaf scan, 6 common crop diseases, organic and chemical treatment</a:t>
            </a:r>
          </a:p>
        </p:txBody>
      </p:sp>
      <p:sp>
        <p:nvSpPr>
          <p:cNvPr id="17" name="Num 4"/>
          <p:cNvSpPr/>
          <p:nvPr/>
        </p:nvSpPr>
        <p:spPr>
          <a:xfrm>
            <a:off x="457200" y="4553712"/>
            <a:ext cx="548640" cy="548640"/>
          </a:xfrm>
          <a:prstGeom prst="ellipse">
            <a:avLst/>
          </a:prstGeom>
          <a:solidFill>
            <a:srgbClr val="8C2E7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Module 4"/>
          <p:cNvSpPr txBox="1"/>
          <p:nvPr/>
        </p:nvSpPr>
        <p:spPr>
          <a:xfrm>
            <a:off x="1188720" y="4498848"/>
            <a:ext cx="749808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C2E7C"/>
                </a:solidFill>
              </a:rPr>
              <a:t>SCADA Farm Controls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Drip manifold, solar pump, Kisan drone and polyhouse climate control</a:t>
            </a:r>
          </a:p>
        </p:txBody>
      </p:sp>
      <p:sp>
        <p:nvSpPr>
          <p:cNvPr id="19" name="Num 5"/>
          <p:cNvSpPr/>
          <p:nvPr/>
        </p:nvSpPr>
        <p:spPr>
          <a:xfrm>
            <a:off x="457200" y="5321808"/>
            <a:ext cx="548640" cy="548640"/>
          </a:xfrm>
          <a:prstGeom prst="ellipse">
            <a:avLst/>
          </a:prstGeom>
          <a:solidFill>
            <a:srgbClr val="8C2E7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Module 5"/>
          <p:cNvSpPr txBox="1"/>
          <p:nvPr/>
        </p:nvSpPr>
        <p:spPr>
          <a:xfrm>
            <a:off x="1188720" y="5266944"/>
            <a:ext cx="749808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C2E7C"/>
                </a:solidFill>
              </a:rPr>
              <a:t>APMC Mandi Intelligence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8 commodity prices vs MSP, 5 currencies, 7-day price trends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-115888" y="1201738"/>
            <a:ext cx="9382126" cy="1012825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rgbClr val="356992"/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System Architecture</a:t>
            </a:r>
          </a:p>
        </p:txBody>
      </p:sp>
      <p:sp>
        <p:nvSpPr>
          <p:cNvPr id="11" name="User"/>
          <p:cNvSpPr/>
          <p:nvPr/>
        </p:nvSpPr>
        <p:spPr>
          <a:xfrm>
            <a:off x="2971800" y="2148840"/>
            <a:ext cx="3200400" cy="411480"/>
          </a:xfrm>
          <a:prstGeom prst="roundRect">
            <a:avLst>
              <a:gd name="adj" fmla="val 12000"/>
            </a:avLst>
          </a:prstGeom>
          <a:solidFill>
            <a:srgbClr val="8C2E7C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Farmer / Agronomist</a:t>
            </a:r>
          </a:p>
        </p:txBody>
      </p:sp>
      <p:cxnSp>
        <p:nvCxnSpPr>
          <p:cNvPr id="12" name="Arrow User to Frontend"/>
          <p:cNvCxnSpPr/>
          <p:nvPr/>
        </p:nvCxnSpPr>
        <p:spPr>
          <a:xfrm>
            <a:off x="4572000" y="2560320"/>
            <a:ext cx="0" cy="228600"/>
          </a:xfrm>
          <a:prstGeom prst="line">
            <a:avLst/>
          </a:prstGeom>
          <a:ln w="28575">
            <a:solidFill>
              <a:srgbClr val="8C2E7C"/>
            </a:solidFill>
            <a:tailEnd type="triangle"/>
          </a:ln>
        </p:spPr>
      </p:cxnSp>
      <p:sp>
        <p:nvSpPr>
          <p:cNvPr id="13" name="Frontend"/>
          <p:cNvSpPr/>
          <p:nvPr/>
        </p:nvSpPr>
        <p:spPr>
          <a:xfrm>
            <a:off x="457200" y="2788920"/>
            <a:ext cx="5577840" cy="548640"/>
          </a:xfrm>
          <a:prstGeom prst="roundRect">
            <a:avLst>
              <a:gd name="adj" fmla="val 12000"/>
            </a:avLst>
          </a:prstGeom>
          <a:solidFill>
            <a:srgbClr val="8C2E7C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React 18 + Vite app (5 modules)</a:t>
            </a:r>
          </a:p>
        </p:txBody>
      </p:sp>
      <p:sp>
        <p:nvSpPr>
          <p:cNvPr id="14" name="Supabase"/>
          <p:cNvSpPr/>
          <p:nvPr/>
        </p:nvSpPr>
        <p:spPr>
          <a:xfrm>
            <a:off x="6355080" y="2788920"/>
            <a:ext cx="2331720" cy="548640"/>
          </a:xfrm>
          <a:prstGeom prst="roundRect">
            <a:avLst>
              <a:gd name="adj" fmla="val 12000"/>
            </a:avLst>
          </a:prstGeom>
          <a:solidFill>
            <a:srgbClr val="F1D97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333333"/>
                </a:solidFill>
              </a:rPr>
              <a:t>Supabase (optional)</a:t>
            </a:r>
          </a:p>
        </p:txBody>
      </p:sp>
      <p:cxnSp>
        <p:nvCxnSpPr>
          <p:cNvPr id="15" name="Arrow Frontend Supabase"/>
          <p:cNvCxnSpPr/>
          <p:nvPr/>
        </p:nvCxnSpPr>
        <p:spPr>
          <a:xfrm>
            <a:off x="6035040" y="3063240"/>
            <a:ext cx="320040" cy="0"/>
          </a:xfrm>
          <a:prstGeom prst="line">
            <a:avLst/>
          </a:prstGeom>
          <a:ln w="28575">
            <a:solidFill>
              <a:srgbClr val="8C2E7C"/>
            </a:solidFill>
            <a:headEnd type="triangle"/>
            <a:tailEnd type="triangle"/>
          </a:ln>
        </p:spPr>
      </p:cxnSp>
      <p:cxnSp>
        <p:nvCxnSpPr>
          <p:cNvPr id="16" name="Arrow Frontend to Backend"/>
          <p:cNvCxnSpPr/>
          <p:nvPr/>
        </p:nvCxnSpPr>
        <p:spPr>
          <a:xfrm>
            <a:off x="3246120" y="3337560"/>
            <a:ext cx="0" cy="274320"/>
          </a:xfrm>
          <a:prstGeom prst="line">
            <a:avLst/>
          </a:prstGeom>
          <a:ln w="28575">
            <a:solidFill>
              <a:srgbClr val="8C2E7C"/>
            </a:solidFill>
            <a:tailEnd type="triangle"/>
          </a:ln>
        </p:spPr>
      </p:cxnSp>
      <p:sp>
        <p:nvSpPr>
          <p:cNvPr id="17" name="API Label"/>
          <p:cNvSpPr txBox="1"/>
          <p:nvPr/>
        </p:nvSpPr>
        <p:spPr>
          <a:xfrm>
            <a:off x="3383280" y="33375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8C2E7C"/>
                </a:solidFill>
              </a:rPr>
              <a:t>REST API (JSON)</a:t>
            </a:r>
          </a:p>
        </p:txBody>
      </p:sp>
      <p:sp>
        <p:nvSpPr>
          <p:cNvPr id="18" name="Backend Box"/>
          <p:cNvSpPr/>
          <p:nvPr/>
        </p:nvSpPr>
        <p:spPr>
          <a:xfrm>
            <a:off x="457200" y="3611880"/>
            <a:ext cx="8229600" cy="1463040"/>
          </a:xfrm>
          <a:prstGeom prst="roundRect">
            <a:avLst>
              <a:gd name="adj" fmla="val 12000"/>
            </a:avLst>
          </a:prstGeom>
          <a:solidFill>
            <a:srgbClr val="F6EEF5"/>
          </a:solidFill>
          <a:ln w="15875">
            <a:solidFill>
              <a:srgbClr val="8C2E7C"/>
            </a:solidFill>
          </a:ln>
        </p:spPr>
        <p:txBody>
          <a:bodyPr wrap="square" lIns="91440" tIns="54864" rIns="91440" bIns="4572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C2E7C"/>
                </a:solidFill>
              </a:rPr>
              <a:t>Node.js / Express Server (port 5000)</a:t>
            </a:r>
          </a:p>
        </p:txBody>
      </p:sp>
      <p:sp>
        <p:nvSpPr>
          <p:cNvPr id="19" name="Chip 1"/>
          <p:cNvSpPr/>
          <p:nvPr/>
        </p:nvSpPr>
        <p:spPr>
          <a:xfrm>
            <a:off x="594360" y="4023360"/>
            <a:ext cx="246888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8C2E7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Guardrail Engine</a:t>
            </a:r>
          </a:p>
        </p:txBody>
      </p:sp>
      <p:sp>
        <p:nvSpPr>
          <p:cNvPr id="20" name="Chip 2"/>
          <p:cNvSpPr/>
          <p:nvPr/>
        </p:nvSpPr>
        <p:spPr>
          <a:xfrm>
            <a:off x="3200400" y="4023360"/>
            <a:ext cx="246888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8C2E7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Groq SDK Client</a:t>
            </a:r>
          </a:p>
        </p:txBody>
      </p:sp>
      <p:sp>
        <p:nvSpPr>
          <p:cNvPr id="21" name="Chip 3"/>
          <p:cNvSpPr/>
          <p:nvPr/>
        </p:nvSpPr>
        <p:spPr>
          <a:xfrm>
            <a:off x="5806440" y="4023360"/>
            <a:ext cx="246888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8C2E7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Telemetry State</a:t>
            </a:r>
          </a:p>
        </p:txBody>
      </p:sp>
      <p:sp>
        <p:nvSpPr>
          <p:cNvPr id="22" name="Chip 4"/>
          <p:cNvSpPr/>
          <p:nvPr/>
        </p:nvSpPr>
        <p:spPr>
          <a:xfrm>
            <a:off x="594360" y="4526280"/>
            <a:ext cx="246888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8C2E7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Crop Disease Data</a:t>
            </a:r>
          </a:p>
        </p:txBody>
      </p:sp>
      <p:sp>
        <p:nvSpPr>
          <p:cNvPr id="23" name="Chip 5"/>
          <p:cNvSpPr/>
          <p:nvPr/>
        </p:nvSpPr>
        <p:spPr>
          <a:xfrm>
            <a:off x="3200400" y="4526280"/>
            <a:ext cx="246888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8C2E7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Mandi Price Engine</a:t>
            </a:r>
          </a:p>
        </p:txBody>
      </p:sp>
      <p:sp>
        <p:nvSpPr>
          <p:cNvPr id="24" name="Chip 6"/>
          <p:cNvSpPr/>
          <p:nvPr/>
        </p:nvSpPr>
        <p:spPr>
          <a:xfrm>
            <a:off x="5806440" y="4526280"/>
            <a:ext cx="246888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8C2E7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Actuator Controller</a:t>
            </a:r>
          </a:p>
        </p:txBody>
      </p:sp>
      <p:cxnSp>
        <p:nvCxnSpPr>
          <p:cNvPr id="25" name="Arrow Backend to Groq"/>
          <p:cNvCxnSpPr/>
          <p:nvPr/>
        </p:nvCxnSpPr>
        <p:spPr>
          <a:xfrm>
            <a:off x="2514600" y="5074920"/>
            <a:ext cx="0" cy="274320"/>
          </a:xfrm>
          <a:prstGeom prst="line">
            <a:avLst/>
          </a:prstGeom>
          <a:ln w="28575">
            <a:solidFill>
              <a:srgbClr val="8C2E7C"/>
            </a:solidFill>
            <a:tailEnd type="triangle"/>
          </a:ln>
        </p:spPr>
      </p:cxnSp>
      <p:cxnSp>
        <p:nvCxnSpPr>
          <p:cNvPr id="26" name="Arrow Backend to Offline"/>
          <p:cNvCxnSpPr/>
          <p:nvPr/>
        </p:nvCxnSpPr>
        <p:spPr>
          <a:xfrm>
            <a:off x="6629400" y="5074920"/>
            <a:ext cx="0" cy="274320"/>
          </a:xfrm>
          <a:prstGeom prst="line">
            <a:avLst/>
          </a:prstGeom>
          <a:ln w="28575">
            <a:solidFill>
              <a:srgbClr val="8C2E7C"/>
            </a:solidFill>
            <a:tailEnd type="triangle"/>
          </a:ln>
        </p:spPr>
      </p:cxnSp>
      <p:sp>
        <p:nvSpPr>
          <p:cNvPr id="27" name="Groq Box"/>
          <p:cNvSpPr/>
          <p:nvPr/>
        </p:nvSpPr>
        <p:spPr>
          <a:xfrm>
            <a:off x="457200" y="5349240"/>
            <a:ext cx="4114800" cy="548640"/>
          </a:xfrm>
          <a:prstGeom prst="roundRect">
            <a:avLst>
              <a:gd name="adj" fmla="val 12000"/>
            </a:avLst>
          </a:prstGeom>
          <a:solidFill>
            <a:srgbClr val="8C2E7C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Live AI: Groq Cloud (qwen/qwen3.8-27b)</a:t>
            </a:r>
          </a:p>
        </p:txBody>
      </p:sp>
      <p:sp>
        <p:nvSpPr>
          <p:cNvPr id="28" name="Offline Box"/>
          <p:cNvSpPr/>
          <p:nvPr/>
        </p:nvSpPr>
        <p:spPr>
          <a:xfrm>
            <a:off x="4572000" y="5349240"/>
            <a:ext cx="4114800" cy="548640"/>
          </a:xfrm>
          <a:prstGeom prst="roundRect">
            <a:avLst>
              <a:gd name="adj" fmla="val 12000"/>
            </a:avLst>
          </a:prstGeom>
          <a:solidFill>
            <a:srgbClr val="F1D977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33333"/>
                </a:solidFill>
              </a:rPr>
              <a:t>Fallback: Offline Agronomy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2957</TotalTime>
  <Words>2</Words>
  <Application>Microsoft Office PowerPoint</Application>
  <PresentationFormat>On-screen Show (4:3)</PresentationFormat>
  <Paragraphs>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Slide 1</vt:lpstr>
      <vt:lpstr>Slide 2</vt:lpstr>
      <vt:lpstr>Slide 3</vt:lpstr>
      <vt:lpstr>Slide 4</vt:lpstr>
    </vt:vector>
  </TitlesOfParts>
  <Company>LMD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shobhit goyal</dc:creator>
  <cp:lastModifiedBy>Admin</cp:lastModifiedBy>
  <cp:revision>197</cp:revision>
  <dcterms:created xsi:type="dcterms:W3CDTF">2017-09-26T13:14:25Z</dcterms:created>
  <dcterms:modified xsi:type="dcterms:W3CDTF">2022-11-19T06:57:10Z</dcterms:modified>
</cp:coreProperties>
</file>